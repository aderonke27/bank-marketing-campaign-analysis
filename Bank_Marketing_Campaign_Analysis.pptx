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72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00000"/>
                </a:solidFill>
                <a:latin typeface="Arial"/>
              </a:rPr>
              <a:t>Conversion Rate by Previous Outcome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Rate</c:v>
                </c:pt>
              </c:strCache>
            </c:strRef>
          </c:tx>
          <c:spPr>
            <a:solidFill>
              <a:srgbClr val="5C268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Never contacted</c:v>
                </c:pt>
                <c:pt idx="1">
                  <c:v>Failure</c:v>
                </c:pt>
                <c:pt idx="2">
                  <c:v>Other</c:v>
                </c:pt>
                <c:pt idx="3">
                  <c:v>Success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40.700000000000003</c:v>
                </c:pt>
                <c:pt idx="1">
                  <c:v>50.3</c:v>
                </c:pt>
                <c:pt idx="2">
                  <c:v>57.2</c:v>
                </c:pt>
                <c:pt idx="3">
                  <c:v>91.3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65-459A-87E0-54E1B05F03A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00000"/>
                </a:solidFill>
                <a:latin typeface="Arial"/>
              </a:rPr>
              <a:t>Conversion Rate by Contact Recency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Rate</c:v>
                </c:pt>
              </c:strCache>
            </c:strRef>
          </c:tx>
          <c:spPr>
            <a:solidFill>
              <a:srgbClr val="5C268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Never contacted</c:v>
                </c:pt>
                <c:pt idx="1">
                  <c:v>6-12 months</c:v>
                </c:pt>
                <c:pt idx="2">
                  <c:v>3-6 months</c:v>
                </c:pt>
                <c:pt idx="3">
                  <c:v>12+ months</c:v>
                </c:pt>
                <c:pt idx="4">
                  <c:v>&lt;3 months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40.700000000000003</c:v>
                </c:pt>
                <c:pt idx="1">
                  <c:v>60.1</c:v>
                </c:pt>
                <c:pt idx="2">
                  <c:v>71.599999999999994</c:v>
                </c:pt>
                <c:pt idx="3">
                  <c:v>74.599999999999994</c:v>
                </c:pt>
                <c:pt idx="4">
                  <c:v>76.3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2A-4E64-A74A-B654B0C956F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00000"/>
                </a:solidFill>
                <a:latin typeface="Arial"/>
              </a:rPr>
              <a:t>Conversion Rate by Occupation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Rate</c:v>
                </c:pt>
              </c:strCache>
            </c:strRef>
          </c:tx>
          <c:spPr>
            <a:solidFill>
              <a:srgbClr val="5C268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Blue-collar</c:v>
                </c:pt>
                <c:pt idx="1">
                  <c:v>Services</c:v>
                </c:pt>
                <c:pt idx="2">
                  <c:v>Technician</c:v>
                </c:pt>
                <c:pt idx="3">
                  <c:v>Management</c:v>
                </c:pt>
                <c:pt idx="4">
                  <c:v>Unemployed</c:v>
                </c:pt>
                <c:pt idx="5">
                  <c:v>Retired</c:v>
                </c:pt>
                <c:pt idx="6">
                  <c:v>Student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36.4</c:v>
                </c:pt>
                <c:pt idx="1">
                  <c:v>40</c:v>
                </c:pt>
                <c:pt idx="2">
                  <c:v>46.1</c:v>
                </c:pt>
                <c:pt idx="3">
                  <c:v>50.7</c:v>
                </c:pt>
                <c:pt idx="4">
                  <c:v>56.6</c:v>
                </c:pt>
                <c:pt idx="5">
                  <c:v>66.3</c:v>
                </c:pt>
                <c:pt idx="6">
                  <c:v>74.7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83-444D-8457-095C78C207C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00000"/>
                </a:solidFill>
                <a:latin typeface="Arial"/>
              </a:rPr>
              <a:t>Conversion Rate by Account Balance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Rate</c:v>
                </c:pt>
              </c:strCache>
            </c:strRef>
          </c:tx>
          <c:spPr>
            <a:solidFill>
              <a:srgbClr val="5C268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Negative</c:v>
                </c:pt>
                <c:pt idx="1">
                  <c:v>Zero</c:v>
                </c:pt>
                <c:pt idx="2">
                  <c:v>1-1,000</c:v>
                </c:pt>
                <c:pt idx="3">
                  <c:v>1,001-5,000</c:v>
                </c:pt>
                <c:pt idx="4">
                  <c:v>5,000+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30.5</c:v>
                </c:pt>
                <c:pt idx="1">
                  <c:v>37.700000000000003</c:v>
                </c:pt>
                <c:pt idx="2">
                  <c:v>44.9</c:v>
                </c:pt>
                <c:pt idx="3">
                  <c:v>55.3</c:v>
                </c:pt>
                <c:pt idx="4">
                  <c:v>57.2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207-4522-BFC3-C7906B106FC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Rate (%)</c:v>
                </c:pt>
              </c:strCache>
            </c:strRef>
          </c:tx>
          <c:spPr>
            <a:ln w="38100" cap="flat">
              <a:solidFill>
                <a:srgbClr val="B3401F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B3401F"/>
              </a:solidFill>
              <a:ln w="9525" cap="flat">
                <a:solidFill>
                  <a:srgbClr val="B3401F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 call</c:v>
                </c:pt>
                <c:pt idx="1">
                  <c:v>2 calls</c:v>
                </c:pt>
                <c:pt idx="2">
                  <c:v>3 calls</c:v>
                </c:pt>
                <c:pt idx="3">
                  <c:v>4-5 calls</c:v>
                </c:pt>
                <c:pt idx="4">
                  <c:v>6-10 calls</c:v>
                </c:pt>
                <c:pt idx="5">
                  <c:v>11+ calls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53.4</c:v>
                </c:pt>
                <c:pt idx="1">
                  <c:v>46.4</c:v>
                </c:pt>
                <c:pt idx="2">
                  <c:v>46.4</c:v>
                </c:pt>
                <c:pt idx="3">
                  <c:v>40</c:v>
                </c:pt>
                <c:pt idx="4">
                  <c:v>31</c:v>
                </c:pt>
                <c:pt idx="5">
                  <c:v>22.1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CC7-443D-850F-7946C8F82836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1323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1A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D1A5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MARKETING</a:t>
            </a:r>
            <a:endParaRPr lang="en-US" sz="44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ANALYSIS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B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what drives term deposit subscriptions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79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Analytics Case Study  |  AnalystLab Africa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10881360" cy="1554480"/>
          </a:xfrm>
          <a:prstGeom prst="roundRect">
            <a:avLst>
              <a:gd name="adj" fmla="val 7059"/>
            </a:avLst>
          </a:prstGeom>
          <a:solidFill>
            <a:srgbClr val="F4F1F7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C2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some customers subscribe to term deposits while others do not?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3474720"/>
            <a:ext cx="10881360" cy="1554480"/>
          </a:xfrm>
          <a:prstGeom prst="roundRect">
            <a:avLst>
              <a:gd name="adj" fmla="val 7059"/>
            </a:avLst>
          </a:prstGeom>
          <a:solidFill>
            <a:srgbClr val="F4F1F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65760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C2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customer groups are more likely to respond positively to marketing campaigns?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5349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bank needs to make its next term deposit campaign more effective — reaching the right customers, with the right message, at the right time.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Marketing Campaign Analysis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Marketing dataset — a completed term deposit telemarketing campaign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F4F1F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C2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11,162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records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82880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F4F1F7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196596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C2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291840" y="26974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analyzed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82880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F4F1F7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0" y="196596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C2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47.4%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35040" y="26974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conversion rate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778240" y="182880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F4F1F7"/>
          </a:solidFill>
          <a:ln/>
        </p:spPr>
      </p:sp>
      <p:sp>
        <p:nvSpPr>
          <p:cNvPr id="14" name="Text 12"/>
          <p:cNvSpPr/>
          <p:nvPr/>
        </p:nvSpPr>
        <p:spPr>
          <a:xfrm>
            <a:off x="8778240" y="196596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C2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5,289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778240" y="26974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Subscribed customers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749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cover three areas: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297680"/>
            <a:ext cx="109728" cy="109728"/>
          </a:xfrm>
          <a:prstGeom prst="ellipse">
            <a:avLst/>
          </a:prstGeom>
          <a:solidFill>
            <a:srgbClr val="5C268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251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Demographics:  </a:t>
            </a: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age, job, marital status, education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919472"/>
            <a:ext cx="109728" cy="109728"/>
          </a:xfrm>
          <a:prstGeom prst="ellipse">
            <a:avLst/>
          </a:prstGeom>
          <a:solidFill>
            <a:srgbClr val="5C2684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87375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standing:  </a:t>
            </a: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balance, housing loan, personal loan, credit default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5541264"/>
            <a:ext cx="109728" cy="109728"/>
          </a:xfrm>
          <a:prstGeom prst="ellipse">
            <a:avLst/>
          </a:prstGeom>
          <a:solidFill>
            <a:srgbClr val="5C2684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495544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contact:  </a:t>
            </a: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method, month/day, call duration, number of contacts, prior outcome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Marketing Campaign Analysis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Strongest Signal: Campaign History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554480"/>
          <a:ext cx="54864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/>
        </p:nvGraphicFramePr>
        <p:xfrm>
          <a:off x="6172200" y="1554480"/>
          <a:ext cx="54864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Text 1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prior success predicts a 91% conversion rate — more than double the base rate.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Marketing Campaign Analysis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Customer Groups Respond Best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554480"/>
          <a:ext cx="54864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/>
        </p:nvGraphicFramePr>
        <p:xfrm>
          <a:off x="6172200" y="1554480"/>
          <a:ext cx="54864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Text 1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Students, retirees, and financially comfortable customers convert well above average.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Marketing Campaign Analysis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Over-Contacting Hurts Conversion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1097280" y="1645920"/>
          <a:ext cx="99669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additional call beyond the third works against conversion — a clear signal to cap outreach.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Marketing Campaign Analysis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Findings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4F1F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C2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history beats demographics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423160"/>
            <a:ext cx="4800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success = 91.3% conversion vs. 40.7% for never-contacted — the single strongest signal in the data.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72200" y="164592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4F1F7"/>
          </a:solidFill>
          <a:ln/>
        </p:spPr>
      </p:sp>
      <p:sp>
        <p:nvSpPr>
          <p:cNvPr id="7" name="Text 5"/>
          <p:cNvSpPr/>
          <p:nvPr/>
        </p:nvSpPr>
        <p:spPr>
          <a:xfrm>
            <a:off x="6446520" y="182880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C2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fatigue is measurable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46520" y="2423160"/>
            <a:ext cx="4800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falls in a straight line from 53.4% (1 call) to 22.1% (11+ calls).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02336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4F1F7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20624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C2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stage drives response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4800600"/>
            <a:ext cx="4800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(74.7%) and retirees (66.3%) convert far above working-age professionals (36-46%).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402336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4F1F7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420624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C2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capacity matters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46520" y="4800600"/>
            <a:ext cx="4800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climbs from 30.5% (negative balance) to 57.2% (5,000+ balance).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Marketing Campaign Analysis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5C268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34440" y="155448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prior-success customers for re-engagement — highest expected return of any segment (91.3%)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5C268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246888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contact attempts at 3 per customer to cut wasted calls without losing conversions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429000"/>
            <a:ext cx="457200" cy="457200"/>
          </a:xfrm>
          <a:prstGeom prst="ellipse">
            <a:avLst/>
          </a:prstGeom>
          <a:solidFill>
            <a:srgbClr val="5C2684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338328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tailored offers for students and retirees, the two highest-converting life-stage segments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457200" cy="457200"/>
          </a:xfrm>
          <a:prstGeom prst="ellipse">
            <a:avLst/>
          </a:prstGeom>
          <a:solidFill>
            <a:srgbClr val="5C2684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429768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out negative/zero-balance leads before dialing to raise average call-list quality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257800"/>
            <a:ext cx="457200" cy="457200"/>
          </a:xfrm>
          <a:prstGeom prst="ellipse">
            <a:avLst/>
          </a:prstGeom>
          <a:solidFill>
            <a:srgbClr val="5C2684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5257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34440" y="521208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 on verified cellular/telephone contact and time the next launch for Q4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Marketing Campaign Analysis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D1A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920240"/>
            <a:ext cx="10241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1800" dirty="0">
                <a:solidFill>
                  <a:srgbClr val="E8D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campaign will succeed less by finding new customers and more by using what the bank already knows about existing ones. Re-focusing effort toward prior-success customers, capping contact attempts, and targeting the right life-stage segments is a low-cost, high-impact path to a materially more effective campaign.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45720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6217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79A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Analytics Case Study  |  AnalystLab Africa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505</Words>
  <Application>Microsoft Office PowerPoint</Application>
  <PresentationFormat>Widescreen</PresentationFormat>
  <Paragraphs>79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Author</cp:lastModifiedBy>
  <cp:revision>1</cp:revision>
  <dcterms:created xsi:type="dcterms:W3CDTF">2026-08-09T22:19:30Z</dcterms:created>
  <dcterms:modified xsi:type="dcterms:W3CDTF">2026-08-09T22:24:24Z</dcterms:modified>
</cp:coreProperties>
</file>